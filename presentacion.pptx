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</p:sldIdLst>
  <p:sldSz cx="18288000" cy="10287000"/>
  <p:notesSz cx="6858000" cy="9144000"/>
  <p:embeddedFontLst>
    <p:embeddedFont>
      <p:font typeface="RoxboroughCF Bold" charset="1" panose="00000800000000000000"/>
      <p:regular r:id="rId24"/>
    </p:embeddedFont>
    <p:embeddedFont>
      <p:font typeface="RoxboroughCF Thin" charset="1" panose="00000200000000000000"/>
      <p:regular r:id="rId25"/>
    </p:embeddedFont>
    <p:embeddedFont>
      <p:font typeface="Now" charset="1" panose="00000500000000000000"/>
      <p:regular r:id="rId26"/>
    </p:embeddedFont>
    <p:embeddedFont>
      <p:font typeface="RoxboroughCF Heavy" charset="1" panose="00000A00000000000000"/>
      <p:regular r:id="rId27"/>
    </p:embeddedFont>
    <p:embeddedFont>
      <p:font typeface="Trebuchet MS Bold" charset="1" panose="020B0703020202020204"/>
      <p:regular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fonts/font24.fntdata" Type="http://schemas.openxmlformats.org/officeDocument/2006/relationships/font"/><Relationship Id="rId25" Target="fonts/font25.fntdata" Type="http://schemas.openxmlformats.org/officeDocument/2006/relationships/font"/><Relationship Id="rId26" Target="fonts/font26.fntdata" Type="http://schemas.openxmlformats.org/officeDocument/2006/relationships/font"/><Relationship Id="rId27" Target="fonts/font27.fntdata" Type="http://schemas.openxmlformats.org/officeDocument/2006/relationships/font"/><Relationship Id="rId28" Target="fonts/font28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1.png" Type="http://schemas.openxmlformats.org/officeDocument/2006/relationships/image"/><Relationship Id="rId5" Target="../media/image2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Relationship Id="rId3" Target="../media/image9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Relationship Id="rId3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19.pn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20.pn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29728">
            <a:off x="8147019" y="836860"/>
            <a:ext cx="6722060" cy="4364974"/>
          </a:xfrm>
          <a:custGeom>
            <a:avLst/>
            <a:gdLst/>
            <a:ahLst/>
            <a:cxnLst/>
            <a:rect r="r" b="b" t="t" l="l"/>
            <a:pathLst>
              <a:path h="4364974" w="6722060">
                <a:moveTo>
                  <a:pt x="0" y="0"/>
                </a:moveTo>
                <a:lnTo>
                  <a:pt x="6722060" y="0"/>
                </a:lnTo>
                <a:lnTo>
                  <a:pt x="6722060" y="4364973"/>
                </a:lnTo>
                <a:lnTo>
                  <a:pt x="0" y="43649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02872">
            <a:off x="4921505" y="4063204"/>
            <a:ext cx="6188014" cy="7280017"/>
          </a:xfrm>
          <a:custGeom>
            <a:avLst/>
            <a:gdLst/>
            <a:ahLst/>
            <a:cxnLst/>
            <a:rect r="r" b="b" t="t" l="l"/>
            <a:pathLst>
              <a:path h="7280017" w="6188014">
                <a:moveTo>
                  <a:pt x="0" y="0"/>
                </a:moveTo>
                <a:lnTo>
                  <a:pt x="6188014" y="0"/>
                </a:lnTo>
                <a:lnTo>
                  <a:pt x="6188014" y="7280017"/>
                </a:lnTo>
                <a:lnTo>
                  <a:pt x="0" y="728001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793911" y="2494691"/>
            <a:ext cx="13474670" cy="6047127"/>
            <a:chOff x="0" y="0"/>
            <a:chExt cx="3548884" cy="1592659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3548885" cy="1592659"/>
            </a:xfrm>
            <a:custGeom>
              <a:avLst/>
              <a:gdLst/>
              <a:ahLst/>
              <a:cxnLst/>
              <a:rect r="r" b="b" t="t" l="l"/>
              <a:pathLst>
                <a:path h="1592659" w="3548885">
                  <a:moveTo>
                    <a:pt x="0" y="0"/>
                  </a:moveTo>
                  <a:lnTo>
                    <a:pt x="3548885" y="0"/>
                  </a:lnTo>
                  <a:lnTo>
                    <a:pt x="3548885" y="1592659"/>
                  </a:lnTo>
                  <a:lnTo>
                    <a:pt x="0" y="1592659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3548884" cy="16212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2699999">
            <a:off x="-3734525" y="-75386"/>
            <a:ext cx="7883515" cy="9274723"/>
          </a:xfrm>
          <a:custGeom>
            <a:avLst/>
            <a:gdLst/>
            <a:ahLst/>
            <a:cxnLst/>
            <a:rect r="r" b="b" t="t" l="l"/>
            <a:pathLst>
              <a:path h="9274723" w="7883515">
                <a:moveTo>
                  <a:pt x="0" y="0"/>
                </a:moveTo>
                <a:lnTo>
                  <a:pt x="7883515" y="0"/>
                </a:lnTo>
                <a:lnTo>
                  <a:pt x="7883515" y="9274723"/>
                </a:lnTo>
                <a:lnTo>
                  <a:pt x="0" y="927472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96950">
            <a:off x="14593686" y="-1310602"/>
            <a:ext cx="5766809" cy="10367297"/>
          </a:xfrm>
          <a:custGeom>
            <a:avLst/>
            <a:gdLst/>
            <a:ahLst/>
            <a:cxnLst/>
            <a:rect r="r" b="b" t="t" l="l"/>
            <a:pathLst>
              <a:path h="10367297" w="5766809">
                <a:moveTo>
                  <a:pt x="0" y="0"/>
                </a:moveTo>
                <a:lnTo>
                  <a:pt x="5766809" y="0"/>
                </a:lnTo>
                <a:lnTo>
                  <a:pt x="5766809" y="10367297"/>
                </a:lnTo>
                <a:lnTo>
                  <a:pt x="0" y="1036729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2889338" y="2494691"/>
            <a:ext cx="13379243" cy="7046782"/>
            <a:chOff x="0" y="0"/>
            <a:chExt cx="17838991" cy="9395710"/>
          </a:xfrm>
        </p:grpSpPr>
        <p:sp>
          <p:nvSpPr>
            <p:cNvPr name="TextBox 10" id="10"/>
            <p:cNvSpPr txBox="true"/>
            <p:nvPr/>
          </p:nvSpPr>
          <p:spPr>
            <a:xfrm rot="0">
              <a:off x="0" y="152400"/>
              <a:ext cx="17838991" cy="775484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9017"/>
                </a:lnSpc>
              </a:pPr>
              <a:r>
                <a:rPr lang="en-US" b="true" sz="8928">
                  <a:solidFill>
                    <a:srgbClr val="403333"/>
                  </a:solidFill>
                  <a:latin typeface="RoxboroughCF Bold"/>
                  <a:ea typeface="RoxboroughCF Bold"/>
                  <a:cs typeface="RoxboroughCF Bold"/>
                  <a:sym typeface="RoxboroughCF Bold"/>
                </a:rPr>
                <a:t>MODELO SOBRE LA BUSQUEDA DE TRATAMIENTO DE SALUD MENTAL DE TRABAJADORES TECH</a:t>
              </a:r>
            </a:p>
          </p:txBody>
        </p:sp>
        <p:sp>
          <p:nvSpPr>
            <p:cNvPr name="TextBox 11" id="11"/>
            <p:cNvSpPr txBox="true"/>
            <p:nvPr/>
          </p:nvSpPr>
          <p:spPr>
            <a:xfrm rot="0">
              <a:off x="1223338" y="8709910"/>
              <a:ext cx="15392315" cy="685800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00"/>
                </a:lnSpc>
              </a:pPr>
              <a:r>
                <a:rPr lang="en-US" sz="3000" spc="506">
                  <a:solidFill>
                    <a:srgbClr val="423731"/>
                  </a:solidFill>
                  <a:latin typeface="RoxboroughCF Thin"/>
                  <a:ea typeface="RoxboroughCF Thin"/>
                  <a:cs typeface="RoxboroughCF Thin"/>
                  <a:sym typeface="RoxboroughCF Thin"/>
                </a:rPr>
                <a:t>BELEN MEJIA MEDINA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912546">
            <a:off x="6796498" y="-1999982"/>
            <a:ext cx="6188014" cy="7280017"/>
          </a:xfrm>
          <a:custGeom>
            <a:avLst/>
            <a:gdLst/>
            <a:ahLst/>
            <a:cxnLst/>
            <a:rect r="r" b="b" t="t" l="l"/>
            <a:pathLst>
              <a:path h="7280017" w="6188014">
                <a:moveTo>
                  <a:pt x="0" y="0"/>
                </a:moveTo>
                <a:lnTo>
                  <a:pt x="6188014" y="0"/>
                </a:lnTo>
                <a:lnTo>
                  <a:pt x="6188014" y="7280017"/>
                </a:lnTo>
                <a:lnTo>
                  <a:pt x="0" y="728001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7872103">
            <a:off x="6582701" y="8072679"/>
            <a:ext cx="4701516" cy="3052933"/>
          </a:xfrm>
          <a:custGeom>
            <a:avLst/>
            <a:gdLst/>
            <a:ahLst/>
            <a:cxnLst/>
            <a:rect r="r" b="b" t="t" l="l"/>
            <a:pathLst>
              <a:path h="3052933" w="4701516">
                <a:moveTo>
                  <a:pt x="0" y="0"/>
                </a:moveTo>
                <a:lnTo>
                  <a:pt x="4701516" y="0"/>
                </a:lnTo>
                <a:lnTo>
                  <a:pt x="4701516" y="3052933"/>
                </a:lnTo>
                <a:lnTo>
                  <a:pt x="0" y="305293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0" y="-568172"/>
            <a:ext cx="9028813" cy="11423344"/>
            <a:chOff x="0" y="0"/>
            <a:chExt cx="2377959" cy="3008617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77959" cy="3008618"/>
            </a:xfrm>
            <a:custGeom>
              <a:avLst/>
              <a:gdLst/>
              <a:ahLst/>
              <a:cxnLst/>
              <a:rect r="r" b="b" t="t" l="l"/>
              <a:pathLst>
                <a:path h="3008618" w="2377959">
                  <a:moveTo>
                    <a:pt x="0" y="0"/>
                  </a:moveTo>
                  <a:lnTo>
                    <a:pt x="2377959" y="0"/>
                  </a:lnTo>
                  <a:lnTo>
                    <a:pt x="2377959" y="3008618"/>
                  </a:lnTo>
                  <a:lnTo>
                    <a:pt x="0" y="3008618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377959" cy="303719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6"/>
                </a:lnSpc>
              </a:pPr>
            </a:p>
          </p:txBody>
        </p:sp>
      </p:grpSp>
      <p:sp>
        <p:nvSpPr>
          <p:cNvPr name="Freeform 7" id="7"/>
          <p:cNvSpPr/>
          <p:nvPr/>
        </p:nvSpPr>
        <p:spPr>
          <a:xfrm flipH="false" flipV="false" rot="-1096950">
            <a:off x="13981860" y="4570897"/>
            <a:ext cx="4212575" cy="7573169"/>
          </a:xfrm>
          <a:custGeom>
            <a:avLst/>
            <a:gdLst/>
            <a:ahLst/>
            <a:cxnLst/>
            <a:rect r="r" b="b" t="t" l="l"/>
            <a:pathLst>
              <a:path h="7573169" w="4212575">
                <a:moveTo>
                  <a:pt x="0" y="0"/>
                </a:moveTo>
                <a:lnTo>
                  <a:pt x="4212575" y="0"/>
                </a:lnTo>
                <a:lnTo>
                  <a:pt x="4212575" y="7573169"/>
                </a:lnTo>
                <a:lnTo>
                  <a:pt x="0" y="757316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8" id="8"/>
          <p:cNvGrpSpPr>
            <a:grpSpLocks noChangeAspect="true"/>
          </p:cNvGrpSpPr>
          <p:nvPr/>
        </p:nvGrpSpPr>
        <p:grpSpPr>
          <a:xfrm rot="0">
            <a:off x="10683535" y="1700910"/>
            <a:ext cx="6189892" cy="6885179"/>
            <a:chOff x="687070" y="247650"/>
            <a:chExt cx="11148060" cy="1240028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1053403" y="253612"/>
              <a:ext cx="10331960" cy="12110688"/>
            </a:xfrm>
            <a:custGeom>
              <a:avLst/>
              <a:gdLst/>
              <a:ahLst/>
              <a:cxnLst/>
              <a:rect r="r" b="b" t="t" l="l"/>
              <a:pathLst>
                <a:path h="12110688" w="10331960">
                  <a:moveTo>
                    <a:pt x="8848787" y="1491368"/>
                  </a:moveTo>
                  <a:cubicBezTo>
                    <a:pt x="8406827" y="966858"/>
                    <a:pt x="7868347" y="502038"/>
                    <a:pt x="7224457" y="246768"/>
                  </a:cubicBezTo>
                  <a:cubicBezTo>
                    <a:pt x="6765987" y="65158"/>
                    <a:pt x="6266877" y="-5962"/>
                    <a:pt x="5772847" y="388"/>
                  </a:cubicBezTo>
                  <a:cubicBezTo>
                    <a:pt x="3687507" y="30868"/>
                    <a:pt x="1791397" y="1485018"/>
                    <a:pt x="922717" y="3340488"/>
                  </a:cubicBezTo>
                  <a:cubicBezTo>
                    <a:pt x="160717" y="4971168"/>
                    <a:pt x="-366333" y="7786758"/>
                    <a:pt x="314387" y="9451728"/>
                  </a:cubicBezTo>
                  <a:cubicBezTo>
                    <a:pt x="993837" y="11116699"/>
                    <a:pt x="2133027" y="11999349"/>
                    <a:pt x="3881817" y="12075549"/>
                  </a:cubicBezTo>
                  <a:cubicBezTo>
                    <a:pt x="6635177" y="12394318"/>
                    <a:pt x="8721787" y="10496939"/>
                    <a:pt x="9751758" y="8303649"/>
                  </a:cubicBezTo>
                  <a:cubicBezTo>
                    <a:pt x="10781728" y="6110358"/>
                    <a:pt x="10415967" y="3355729"/>
                    <a:pt x="8848788" y="1491368"/>
                  </a:cubicBezTo>
                  <a:close/>
                </a:path>
              </a:pathLst>
            </a:custGeom>
            <a:blipFill>
              <a:blip r:embed="rId8"/>
              <a:stretch>
                <a:fillRect l="-6649" t="-16029" r="6649" b="-11939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108756" y="853993"/>
            <a:ext cx="5278125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6000" spc="516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Contexto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08756" y="3126139"/>
            <a:ext cx="6872068" cy="4480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928"/>
              </a:lnSpc>
            </a:pPr>
            <a:r>
              <a:rPr lang="en-US" sz="3900" spc="66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Con este modelo se busca saber en base a ciertas caracteristicas si un trabajador buscara o no tratamiento para su salud mental.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72103">
            <a:off x="5306575" y="441319"/>
            <a:ext cx="4701516" cy="3052933"/>
          </a:xfrm>
          <a:custGeom>
            <a:avLst/>
            <a:gdLst/>
            <a:ahLst/>
            <a:cxnLst/>
            <a:rect r="r" b="b" t="t" l="l"/>
            <a:pathLst>
              <a:path h="3052933" w="4701516">
                <a:moveTo>
                  <a:pt x="0" y="0"/>
                </a:moveTo>
                <a:lnTo>
                  <a:pt x="4701516" y="0"/>
                </a:lnTo>
                <a:lnTo>
                  <a:pt x="4701516" y="3052933"/>
                </a:lnTo>
                <a:lnTo>
                  <a:pt x="0" y="305293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8588629" y="-403906"/>
            <a:ext cx="10431610" cy="11557063"/>
            <a:chOff x="0" y="0"/>
            <a:chExt cx="2747420" cy="3043836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747420" cy="3043836"/>
            </a:xfrm>
            <a:custGeom>
              <a:avLst/>
              <a:gdLst/>
              <a:ahLst/>
              <a:cxnLst/>
              <a:rect r="r" b="b" t="t" l="l"/>
              <a:pathLst>
                <a:path h="3043836" w="2747420">
                  <a:moveTo>
                    <a:pt x="0" y="0"/>
                  </a:moveTo>
                  <a:lnTo>
                    <a:pt x="2747420" y="0"/>
                  </a:lnTo>
                  <a:lnTo>
                    <a:pt x="2747420" y="3043836"/>
                  </a:lnTo>
                  <a:lnTo>
                    <a:pt x="0" y="30438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2747420" cy="3072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6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9144000" y="4185327"/>
            <a:ext cx="9253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403333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02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0" y="984927"/>
            <a:ext cx="9253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403333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01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1103820" y="4175802"/>
            <a:ext cx="596077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23731"/>
                </a:solidFill>
                <a:latin typeface="Now"/>
                <a:ea typeface="Now"/>
                <a:cs typeface="Now"/>
                <a:sym typeface="Now"/>
              </a:rPr>
              <a:t>Encontrar cuales son las variables que mas influyen en que un trabajador busque tratamiento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1103820" y="6842802"/>
            <a:ext cx="5960770" cy="2133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23731"/>
                </a:solidFill>
                <a:latin typeface="Now"/>
                <a:ea typeface="Now"/>
                <a:cs typeface="Now"/>
                <a:sym typeface="Now"/>
              </a:rPr>
              <a:t>Encontrar cual es el modelo que se obtiene mejores resultados en base a la informacion que se tiene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055823" y="4741986"/>
            <a:ext cx="4137322" cy="908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019"/>
              </a:lnSpc>
            </a:pPr>
            <a:r>
              <a:rPr lang="en-US" sz="6000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Objetivos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4960514">
            <a:off x="1313542" y="5198616"/>
            <a:ext cx="4212575" cy="7573169"/>
          </a:xfrm>
          <a:custGeom>
            <a:avLst/>
            <a:gdLst/>
            <a:ahLst/>
            <a:cxnLst/>
            <a:rect r="r" b="b" t="t" l="l"/>
            <a:pathLst>
              <a:path h="7573169" w="4212575">
                <a:moveTo>
                  <a:pt x="0" y="0"/>
                </a:moveTo>
                <a:lnTo>
                  <a:pt x="4212576" y="0"/>
                </a:lnTo>
                <a:lnTo>
                  <a:pt x="4212576" y="7573169"/>
                </a:lnTo>
                <a:lnTo>
                  <a:pt x="0" y="7573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11103820" y="975402"/>
            <a:ext cx="5960770" cy="2667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23731"/>
                </a:solidFill>
                <a:latin typeface="Now"/>
                <a:ea typeface="Now"/>
                <a:cs typeface="Now"/>
                <a:sym typeface="Now"/>
              </a:rPr>
              <a:t>Conocer si el apoyo institucional hacia los trabajadores influencia o no en su decision de buscar tratamiento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144000" y="6857062"/>
            <a:ext cx="925320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5040"/>
              </a:lnSpc>
            </a:pPr>
            <a:r>
              <a:rPr lang="en-US" b="true" sz="3600">
                <a:solidFill>
                  <a:srgbClr val="403333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72103">
            <a:off x="8796622" y="6787891"/>
            <a:ext cx="7177012" cy="4660397"/>
          </a:xfrm>
          <a:custGeom>
            <a:avLst/>
            <a:gdLst/>
            <a:ahLst/>
            <a:cxnLst/>
            <a:rect r="r" b="b" t="t" l="l"/>
            <a:pathLst>
              <a:path h="4660397" w="7177012">
                <a:moveTo>
                  <a:pt x="0" y="0"/>
                </a:moveTo>
                <a:lnTo>
                  <a:pt x="7177012" y="0"/>
                </a:lnTo>
                <a:lnTo>
                  <a:pt x="7177012" y="4660398"/>
                </a:lnTo>
                <a:lnTo>
                  <a:pt x="0" y="46603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02872">
            <a:off x="9418010" y="-3100055"/>
            <a:ext cx="8045061" cy="9464778"/>
          </a:xfrm>
          <a:custGeom>
            <a:avLst/>
            <a:gdLst/>
            <a:ahLst/>
            <a:cxnLst/>
            <a:rect r="r" b="b" t="t" l="l"/>
            <a:pathLst>
              <a:path h="9464778" w="8045061">
                <a:moveTo>
                  <a:pt x="0" y="0"/>
                </a:moveTo>
                <a:lnTo>
                  <a:pt x="8045061" y="0"/>
                </a:lnTo>
                <a:lnTo>
                  <a:pt x="8045061" y="9464778"/>
                </a:lnTo>
                <a:lnTo>
                  <a:pt x="0" y="946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96950">
            <a:off x="-993834" y="3188991"/>
            <a:ext cx="5766809" cy="10367297"/>
          </a:xfrm>
          <a:custGeom>
            <a:avLst/>
            <a:gdLst/>
            <a:ahLst/>
            <a:cxnLst/>
            <a:rect r="r" b="b" t="t" l="l"/>
            <a:pathLst>
              <a:path h="10367297" w="5766809">
                <a:moveTo>
                  <a:pt x="0" y="0"/>
                </a:moveTo>
                <a:lnTo>
                  <a:pt x="5766809" y="0"/>
                </a:lnTo>
                <a:lnTo>
                  <a:pt x="5766809" y="10367298"/>
                </a:lnTo>
                <a:lnTo>
                  <a:pt x="0" y="1036729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1028700" y="1028700"/>
            <a:ext cx="16230600" cy="8229600"/>
            <a:chOff x="0" y="0"/>
            <a:chExt cx="4274726" cy="2167467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274726" cy="2167467"/>
            </a:xfrm>
            <a:custGeom>
              <a:avLst/>
              <a:gdLst/>
              <a:ahLst/>
              <a:cxnLst/>
              <a:rect r="r" b="b" t="t" l="l"/>
              <a:pathLst>
                <a:path h="2167467" w="4274726">
                  <a:moveTo>
                    <a:pt x="0" y="0"/>
                  </a:moveTo>
                  <a:lnTo>
                    <a:pt x="4274726" y="0"/>
                  </a:lnTo>
                  <a:lnTo>
                    <a:pt x="4274726" y="2167467"/>
                  </a:lnTo>
                  <a:lnTo>
                    <a:pt x="0" y="2167467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4274726" cy="219604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6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480796" y="1775209"/>
            <a:ext cx="4368085" cy="7677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80"/>
              </a:lnSpc>
            </a:pPr>
            <a:r>
              <a:rPr lang="en-US" sz="6000" spc="516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Hipótesis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0796" y="3007000"/>
            <a:ext cx="15109696" cy="38998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19"/>
              </a:lnSpc>
            </a:pPr>
            <a:r>
              <a:rPr lang="en-US" sz="3433" spc="58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H0: El apoyo laboral hacia los trabajadores no influencia en que busquen tratamiento de salud mental</a:t>
            </a:r>
          </a:p>
          <a:p>
            <a:pPr algn="l">
              <a:lnSpc>
                <a:spcPts val="5219"/>
              </a:lnSpc>
            </a:pPr>
          </a:p>
          <a:p>
            <a:pPr algn="l">
              <a:lnSpc>
                <a:spcPts val="5219"/>
              </a:lnSpc>
            </a:pPr>
          </a:p>
          <a:p>
            <a:pPr algn="l">
              <a:lnSpc>
                <a:spcPts val="5219"/>
              </a:lnSpc>
            </a:pPr>
            <a:r>
              <a:rPr lang="en-US" sz="3433" spc="58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H1: A mayor apoyo laboral, mayores son las posibilidades de que los trabajadores busquen tratamiento para su salud mental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32787" y="2066092"/>
            <a:ext cx="8411213" cy="7666896"/>
            <a:chOff x="0" y="0"/>
            <a:chExt cx="2215299" cy="201926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215299" cy="2019265"/>
            </a:xfrm>
            <a:custGeom>
              <a:avLst/>
              <a:gdLst/>
              <a:ahLst/>
              <a:cxnLst/>
              <a:rect r="r" b="b" t="t" l="l"/>
              <a:pathLst>
                <a:path h="2019265" w="2215299">
                  <a:moveTo>
                    <a:pt x="0" y="0"/>
                  </a:moveTo>
                  <a:lnTo>
                    <a:pt x="2215299" y="0"/>
                  </a:lnTo>
                  <a:lnTo>
                    <a:pt x="2215299" y="2019265"/>
                  </a:lnTo>
                  <a:lnTo>
                    <a:pt x="0" y="20192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2215299" cy="2047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6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96950">
            <a:off x="14007939" y="-1751865"/>
            <a:ext cx="5766809" cy="10367297"/>
          </a:xfrm>
          <a:custGeom>
            <a:avLst/>
            <a:gdLst/>
            <a:ahLst/>
            <a:cxnLst/>
            <a:rect r="r" b="b" t="t" l="l"/>
            <a:pathLst>
              <a:path h="10367297" w="5766809">
                <a:moveTo>
                  <a:pt x="0" y="0"/>
                </a:moveTo>
                <a:lnTo>
                  <a:pt x="5766809" y="0"/>
                </a:lnTo>
                <a:lnTo>
                  <a:pt x="5766809" y="10367297"/>
                </a:lnTo>
                <a:lnTo>
                  <a:pt x="0" y="103672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732787" y="494467"/>
            <a:ext cx="9860263" cy="10477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400"/>
              </a:lnSpc>
            </a:pPr>
            <a:r>
              <a:rPr lang="en-US" sz="6000" spc="516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Pruebas estadísticas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229098" y="2207177"/>
            <a:ext cx="4005209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343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t-student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229098" y="2889620"/>
            <a:ext cx="1331963" cy="54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5"/>
              </a:lnSpc>
            </a:pPr>
            <a:r>
              <a:rPr lang="en-US" sz="3399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2.22</a:t>
            </a:r>
          </a:p>
        </p:txBody>
      </p:sp>
      <p:grpSp>
        <p:nvGrpSpPr>
          <p:cNvPr name="Group 9" id="9"/>
          <p:cNvGrpSpPr/>
          <p:nvPr/>
        </p:nvGrpSpPr>
        <p:grpSpPr>
          <a:xfrm rot="0">
            <a:off x="9385501" y="2066092"/>
            <a:ext cx="8411213" cy="7666896"/>
            <a:chOff x="0" y="0"/>
            <a:chExt cx="2215299" cy="2019265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215299" cy="2019265"/>
            </a:xfrm>
            <a:custGeom>
              <a:avLst/>
              <a:gdLst/>
              <a:ahLst/>
              <a:cxnLst/>
              <a:rect r="r" b="b" t="t" l="l"/>
              <a:pathLst>
                <a:path h="2019265" w="2215299">
                  <a:moveTo>
                    <a:pt x="0" y="0"/>
                  </a:moveTo>
                  <a:lnTo>
                    <a:pt x="2215299" y="0"/>
                  </a:lnTo>
                  <a:lnTo>
                    <a:pt x="2215299" y="2019265"/>
                  </a:lnTo>
                  <a:lnTo>
                    <a:pt x="0" y="201926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2215299" cy="20478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6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9835735" y="2414368"/>
            <a:ext cx="4005209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599"/>
              </a:lnSpc>
              <a:spcBef>
                <a:spcPct val="0"/>
              </a:spcBef>
            </a:pPr>
            <a:r>
              <a:rPr lang="en-US" b="true" sz="3999" spc="343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chi cuadrado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835735" y="3270621"/>
            <a:ext cx="1207045" cy="54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85"/>
              </a:lnSpc>
              <a:spcBef>
                <a:spcPct val="0"/>
              </a:spcBef>
            </a:pPr>
            <a:r>
              <a:rPr lang="en-US" sz="3399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23.84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028700" y="6138545"/>
            <a:ext cx="2656094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343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p-value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028700" y="7075170"/>
            <a:ext cx="1331963" cy="54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85"/>
              </a:lnSpc>
            </a:pPr>
            <a:r>
              <a:rPr lang="en-US" sz="3399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0.02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9835735" y="6822181"/>
            <a:ext cx="1207045" cy="5421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4385"/>
              </a:lnSpc>
              <a:spcBef>
                <a:spcPct val="0"/>
              </a:spcBef>
            </a:pPr>
            <a:r>
              <a:rPr lang="en-US" sz="3399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0.01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9786366" y="5864850"/>
            <a:ext cx="2512829" cy="6889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9"/>
              </a:lnSpc>
            </a:pPr>
            <a:r>
              <a:rPr lang="en-US" sz="3999" spc="343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p-value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28700" y="3517890"/>
            <a:ext cx="7402979" cy="24326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Indica que el promedio (la tasa de búsqueda de tratamiento) en el grupo de alto apoyo es significativamente mayor que en el grupo de bajo apoyo</a:t>
            </a:r>
          </a:p>
          <a:p>
            <a:pPr algn="l">
              <a:lnSpc>
                <a:spcPts val="3870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028700" y="7855458"/>
            <a:ext cx="6578520" cy="19469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Indica que no existen pruebas suficientes para validar la hipotesis nula</a:t>
            </a:r>
          </a:p>
          <a:p>
            <a:pPr algn="l">
              <a:lnSpc>
                <a:spcPts val="3870"/>
              </a:lnSpc>
            </a:pPr>
          </a:p>
        </p:txBody>
      </p:sp>
      <p:sp>
        <p:nvSpPr>
          <p:cNvPr name="TextBox 20" id="20"/>
          <p:cNvSpPr txBox="true"/>
          <p:nvPr/>
        </p:nvSpPr>
        <p:spPr>
          <a:xfrm rot="0">
            <a:off x="9835735" y="4006264"/>
            <a:ext cx="7402979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Indica que las varibles estan altamente relacionadas.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9835735" y="7623175"/>
            <a:ext cx="6578520" cy="1461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sz="3000">
                <a:solidFill>
                  <a:srgbClr val="060C20"/>
                </a:solidFill>
                <a:latin typeface="Now"/>
                <a:ea typeface="Now"/>
                <a:cs typeface="Now"/>
                <a:sym typeface="Now"/>
              </a:rPr>
              <a:t>Indica que no existen pruebas suficientes para validar la hipotesis nula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304131" y="9474835"/>
            <a:ext cx="428891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258" b="true">
                <a:solidFill>
                  <a:srgbClr val="40333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Objetivo 1 cumplido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952500"/>
            <a:ext cx="3564394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4500" spc="386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MODELOS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1028700" y="2348849"/>
            <a:ext cx="4679379" cy="3050427"/>
            <a:chOff x="0" y="0"/>
            <a:chExt cx="1232429" cy="803405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232429" cy="803405"/>
            </a:xfrm>
            <a:custGeom>
              <a:avLst/>
              <a:gdLst/>
              <a:ahLst/>
              <a:cxnLst/>
              <a:rect r="r" b="b" t="t" l="l"/>
              <a:pathLst>
                <a:path h="803405" w="1232429">
                  <a:moveTo>
                    <a:pt x="0" y="0"/>
                  </a:moveTo>
                  <a:lnTo>
                    <a:pt x="1232429" y="0"/>
                  </a:lnTo>
                  <a:lnTo>
                    <a:pt x="1232429" y="803405"/>
                  </a:lnTo>
                  <a:lnTo>
                    <a:pt x="0" y="803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232429" cy="831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457587" y="3874062"/>
            <a:ext cx="4679379" cy="2875542"/>
            <a:chOff x="0" y="0"/>
            <a:chExt cx="1232429" cy="757344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232429" cy="757344"/>
            </a:xfrm>
            <a:custGeom>
              <a:avLst/>
              <a:gdLst/>
              <a:ahLst/>
              <a:cxnLst/>
              <a:rect r="r" b="b" t="t" l="l"/>
              <a:pathLst>
                <a:path h="757344" w="1232429">
                  <a:moveTo>
                    <a:pt x="0" y="0"/>
                  </a:moveTo>
                  <a:lnTo>
                    <a:pt x="1232429" y="0"/>
                  </a:lnTo>
                  <a:lnTo>
                    <a:pt x="1232429" y="757344"/>
                  </a:lnTo>
                  <a:lnTo>
                    <a:pt x="0" y="757344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1232429" cy="78591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6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283387" y="2543552"/>
            <a:ext cx="3987695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01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83387" y="3440755"/>
            <a:ext cx="4424692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70"/>
              </a:lnSpc>
            </a:pPr>
            <a:r>
              <a:rPr lang="en-US" b="true" sz="3000" spc="258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Regresión logística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6931654" y="4039379"/>
            <a:ext cx="3987695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3"/>
              </a:lnSpc>
              <a:spcBef>
                <a:spcPct val="0"/>
              </a:spcBef>
            </a:pPr>
            <a:r>
              <a:rPr lang="en-US" b="true" sz="4431" spc="381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02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31654" y="4922582"/>
            <a:ext cx="3987695" cy="4895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870"/>
              </a:lnSpc>
              <a:spcBef>
                <a:spcPct val="0"/>
              </a:spcBef>
            </a:pPr>
            <a:r>
              <a:rPr lang="en-US" b="true" sz="3000" spc="258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Random forest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-1603979">
            <a:off x="14166449" y="-1282093"/>
            <a:ext cx="4496570" cy="5290082"/>
          </a:xfrm>
          <a:custGeom>
            <a:avLst/>
            <a:gdLst/>
            <a:ahLst/>
            <a:cxnLst/>
            <a:rect r="r" b="b" t="t" l="l"/>
            <a:pathLst>
              <a:path h="5290082" w="4496570">
                <a:moveTo>
                  <a:pt x="0" y="0"/>
                </a:moveTo>
                <a:lnTo>
                  <a:pt x="4496570" y="0"/>
                </a:lnTo>
                <a:lnTo>
                  <a:pt x="4496570" y="5290082"/>
                </a:lnTo>
                <a:lnTo>
                  <a:pt x="0" y="52900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2579921" y="6207873"/>
            <a:ext cx="4679379" cy="3050427"/>
            <a:chOff x="0" y="0"/>
            <a:chExt cx="1232429" cy="80340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232429" cy="803405"/>
            </a:xfrm>
            <a:custGeom>
              <a:avLst/>
              <a:gdLst/>
              <a:ahLst/>
              <a:cxnLst/>
              <a:rect r="r" b="b" t="t" l="l"/>
              <a:pathLst>
                <a:path h="803405" w="1232429">
                  <a:moveTo>
                    <a:pt x="0" y="0"/>
                  </a:moveTo>
                  <a:lnTo>
                    <a:pt x="1232429" y="0"/>
                  </a:lnTo>
                  <a:lnTo>
                    <a:pt x="1232429" y="803405"/>
                  </a:lnTo>
                  <a:lnTo>
                    <a:pt x="0" y="803405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232429" cy="83198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6"/>
                </a:lnSpc>
              </a:pPr>
            </a:p>
          </p:txBody>
        </p:sp>
      </p:grpSp>
      <p:sp>
        <p:nvSpPr>
          <p:cNvPr name="TextBox 17" id="17"/>
          <p:cNvSpPr txBox="true"/>
          <p:nvPr/>
        </p:nvSpPr>
        <p:spPr>
          <a:xfrm rot="0">
            <a:off x="12790050" y="6307922"/>
            <a:ext cx="3990221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203"/>
              </a:lnSpc>
              <a:spcBef>
                <a:spcPct val="0"/>
              </a:spcBef>
            </a:pPr>
            <a:r>
              <a:rPr lang="en-US" b="true" sz="4431" spc="381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790050" y="7191124"/>
            <a:ext cx="3990221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870"/>
              </a:lnSpc>
              <a:spcBef>
                <a:spcPct val="0"/>
              </a:spcBef>
            </a:pPr>
            <a:r>
              <a:rPr lang="en-US" b="true" sz="3000" spc="258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K-Nearest Neighbors (KNN)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3946" y="2820046"/>
            <a:ext cx="9939647" cy="3938585"/>
          </a:xfrm>
          <a:custGeom>
            <a:avLst/>
            <a:gdLst/>
            <a:ahLst/>
            <a:cxnLst/>
            <a:rect r="r" b="b" t="t" l="l"/>
            <a:pathLst>
              <a:path h="3938585" w="9939647">
                <a:moveTo>
                  <a:pt x="0" y="0"/>
                </a:moveTo>
                <a:lnTo>
                  <a:pt x="9939647" y="0"/>
                </a:lnTo>
                <a:lnTo>
                  <a:pt x="9939647" y="3938586"/>
                </a:lnTo>
                <a:lnTo>
                  <a:pt x="0" y="393858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653946" y="433778"/>
            <a:ext cx="6362558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Regresión logística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653946" y="1623816"/>
            <a:ext cx="11234361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Análisis del desempeño del modelo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3946" y="7095866"/>
            <a:ext cx="9939647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Análisis de validación cruzada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653946" y="8203039"/>
            <a:ext cx="13059028" cy="1374635"/>
          </a:xfrm>
          <a:custGeom>
            <a:avLst/>
            <a:gdLst/>
            <a:ahLst/>
            <a:cxnLst/>
            <a:rect r="r" b="b" t="t" l="l"/>
            <a:pathLst>
              <a:path h="1374635" w="13059028">
                <a:moveTo>
                  <a:pt x="0" y="0"/>
                </a:moveTo>
                <a:lnTo>
                  <a:pt x="13059028" y="0"/>
                </a:lnTo>
                <a:lnTo>
                  <a:pt x="13059028" y="1374635"/>
                </a:lnTo>
                <a:lnTo>
                  <a:pt x="0" y="13746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05467" y="2015239"/>
            <a:ext cx="10047809" cy="7755020"/>
          </a:xfrm>
          <a:custGeom>
            <a:avLst/>
            <a:gdLst/>
            <a:ahLst/>
            <a:cxnLst/>
            <a:rect r="r" b="b" t="t" l="l"/>
            <a:pathLst>
              <a:path h="7755020" w="10047809">
                <a:moveTo>
                  <a:pt x="0" y="0"/>
                </a:moveTo>
                <a:lnTo>
                  <a:pt x="10047809" y="0"/>
                </a:lnTo>
                <a:lnTo>
                  <a:pt x="10047809" y="7755020"/>
                </a:lnTo>
                <a:lnTo>
                  <a:pt x="0" y="775502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1082" y="933450"/>
            <a:ext cx="13332984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Regresión logística - Matriz de confusión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74066" y="2199368"/>
            <a:ext cx="3987695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870"/>
              </a:lnSpc>
              <a:spcBef>
                <a:spcPct val="0"/>
              </a:spcBef>
            </a:pPr>
            <a:r>
              <a:rPr lang="en-US" b="true" sz="3000" spc="258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Diagonal principal: 266 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53946" y="2589494"/>
            <a:ext cx="10569828" cy="4399691"/>
          </a:xfrm>
          <a:custGeom>
            <a:avLst/>
            <a:gdLst/>
            <a:ahLst/>
            <a:cxnLst/>
            <a:rect r="r" b="b" t="t" l="l"/>
            <a:pathLst>
              <a:path h="4399691" w="10569828">
                <a:moveTo>
                  <a:pt x="0" y="0"/>
                </a:moveTo>
                <a:lnTo>
                  <a:pt x="10569828" y="0"/>
                </a:lnTo>
                <a:lnTo>
                  <a:pt x="10569828" y="4399690"/>
                </a:lnTo>
                <a:lnTo>
                  <a:pt x="0" y="439969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3946" y="8383487"/>
            <a:ext cx="11301259" cy="1115999"/>
          </a:xfrm>
          <a:custGeom>
            <a:avLst/>
            <a:gdLst/>
            <a:ahLst/>
            <a:cxnLst/>
            <a:rect r="r" b="b" t="t" l="l"/>
            <a:pathLst>
              <a:path h="1115999" w="11301259">
                <a:moveTo>
                  <a:pt x="0" y="0"/>
                </a:moveTo>
                <a:lnTo>
                  <a:pt x="11301259" y="0"/>
                </a:lnTo>
                <a:lnTo>
                  <a:pt x="11301259" y="1115999"/>
                </a:lnTo>
                <a:lnTo>
                  <a:pt x="0" y="111599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3946" y="433778"/>
            <a:ext cx="4763607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Random forest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3946" y="1623816"/>
            <a:ext cx="11234361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Análisis del desempeño del modelo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3946" y="7417809"/>
            <a:ext cx="9939647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Análisis de validación cruzada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765790" y="2140157"/>
            <a:ext cx="9719619" cy="7789242"/>
          </a:xfrm>
          <a:custGeom>
            <a:avLst/>
            <a:gdLst/>
            <a:ahLst/>
            <a:cxnLst/>
            <a:rect r="r" b="b" t="t" l="l"/>
            <a:pathLst>
              <a:path h="7789242" w="9719619">
                <a:moveTo>
                  <a:pt x="0" y="0"/>
                </a:moveTo>
                <a:lnTo>
                  <a:pt x="9719619" y="0"/>
                </a:lnTo>
                <a:lnTo>
                  <a:pt x="9719619" y="7789242"/>
                </a:lnTo>
                <a:lnTo>
                  <a:pt x="0" y="778924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1082" y="933450"/>
            <a:ext cx="13332984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Random forest - Matriz de confusión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74066" y="2199368"/>
            <a:ext cx="3987695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870"/>
              </a:lnSpc>
              <a:spcBef>
                <a:spcPct val="0"/>
              </a:spcBef>
            </a:pPr>
            <a:r>
              <a:rPr lang="en-US" b="true" sz="3000" spc="258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Diagonal principal: 268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062394" y="2074764"/>
            <a:ext cx="13523487" cy="7404109"/>
          </a:xfrm>
          <a:custGeom>
            <a:avLst/>
            <a:gdLst/>
            <a:ahLst/>
            <a:cxnLst/>
            <a:rect r="r" b="b" t="t" l="l"/>
            <a:pathLst>
              <a:path h="7404109" w="13523487">
                <a:moveTo>
                  <a:pt x="0" y="0"/>
                </a:moveTo>
                <a:lnTo>
                  <a:pt x="13523487" y="0"/>
                </a:lnTo>
                <a:lnTo>
                  <a:pt x="13523487" y="7404109"/>
                </a:lnTo>
                <a:lnTo>
                  <a:pt x="0" y="74041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933450"/>
            <a:ext cx="14557181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Random forest - Importancia de las variables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062394" y="9562100"/>
            <a:ext cx="428891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258" b="true">
                <a:solidFill>
                  <a:srgbClr val="40333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Objetivo 2 cumplido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2818589" y="1028700"/>
            <a:ext cx="11158246" cy="9038179"/>
          </a:xfrm>
          <a:custGeom>
            <a:avLst/>
            <a:gdLst/>
            <a:ahLst/>
            <a:cxnLst/>
            <a:rect r="r" b="b" t="t" l="l"/>
            <a:pathLst>
              <a:path h="9038179" w="11158246">
                <a:moveTo>
                  <a:pt x="0" y="0"/>
                </a:moveTo>
                <a:lnTo>
                  <a:pt x="11158246" y="0"/>
                </a:lnTo>
                <a:lnTo>
                  <a:pt x="11158246" y="9038179"/>
                </a:lnTo>
                <a:lnTo>
                  <a:pt x="0" y="903817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479382" y="264954"/>
            <a:ext cx="6919038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Matriz de correlación</a:t>
            </a: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620497" y="2612363"/>
            <a:ext cx="11301259" cy="4675896"/>
          </a:xfrm>
          <a:custGeom>
            <a:avLst/>
            <a:gdLst/>
            <a:ahLst/>
            <a:cxnLst/>
            <a:rect r="r" b="b" t="t" l="l"/>
            <a:pathLst>
              <a:path h="4675896" w="11301259">
                <a:moveTo>
                  <a:pt x="0" y="0"/>
                </a:moveTo>
                <a:lnTo>
                  <a:pt x="11301259" y="0"/>
                </a:lnTo>
                <a:lnTo>
                  <a:pt x="11301259" y="4675896"/>
                </a:lnTo>
                <a:lnTo>
                  <a:pt x="0" y="467589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653946" y="8410155"/>
            <a:ext cx="11166763" cy="1532115"/>
          </a:xfrm>
          <a:custGeom>
            <a:avLst/>
            <a:gdLst/>
            <a:ahLst/>
            <a:cxnLst/>
            <a:rect r="r" b="b" t="t" l="l"/>
            <a:pathLst>
              <a:path h="1532115" w="11166763">
                <a:moveTo>
                  <a:pt x="0" y="0"/>
                </a:moveTo>
                <a:lnTo>
                  <a:pt x="11166763" y="0"/>
                </a:lnTo>
                <a:lnTo>
                  <a:pt x="11166763" y="1532116"/>
                </a:lnTo>
                <a:lnTo>
                  <a:pt x="0" y="1532116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653946" y="433778"/>
            <a:ext cx="9560459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K-Nearest Neighbors (KNN)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653946" y="1623816"/>
            <a:ext cx="11234361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Análisis del desempeño del modelo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53946" y="7417809"/>
            <a:ext cx="9939647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Análisis de validación cruzada</a:t>
            </a: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4286642" y="1887604"/>
            <a:ext cx="9714716" cy="7895352"/>
          </a:xfrm>
          <a:custGeom>
            <a:avLst/>
            <a:gdLst/>
            <a:ahLst/>
            <a:cxnLst/>
            <a:rect r="r" b="b" t="t" l="l"/>
            <a:pathLst>
              <a:path h="7895352" w="9714716">
                <a:moveTo>
                  <a:pt x="0" y="0"/>
                </a:moveTo>
                <a:lnTo>
                  <a:pt x="9714716" y="0"/>
                </a:lnTo>
                <a:lnTo>
                  <a:pt x="9714716" y="7895352"/>
                </a:lnTo>
                <a:lnTo>
                  <a:pt x="0" y="789535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841082" y="933450"/>
            <a:ext cx="15631476" cy="7637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03"/>
              </a:lnSpc>
            </a:pPr>
            <a:r>
              <a:rPr lang="en-US" sz="4431" spc="381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K-Nearest Neighbors (KNN) - Matriz de confusión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174066" y="2199368"/>
            <a:ext cx="3987695" cy="9753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870"/>
              </a:lnSpc>
              <a:spcBef>
                <a:spcPct val="0"/>
              </a:spcBef>
            </a:pPr>
            <a:r>
              <a:rPr lang="en-US" b="true" sz="3000" spc="258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Diagonal principal: 243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99999">
            <a:off x="-3734525" y="-75386"/>
            <a:ext cx="7883515" cy="9274723"/>
          </a:xfrm>
          <a:custGeom>
            <a:avLst/>
            <a:gdLst/>
            <a:ahLst/>
            <a:cxnLst/>
            <a:rect r="r" b="b" t="t" l="l"/>
            <a:pathLst>
              <a:path h="9274723" w="7883515">
                <a:moveTo>
                  <a:pt x="0" y="0"/>
                </a:moveTo>
                <a:lnTo>
                  <a:pt x="7883515" y="0"/>
                </a:lnTo>
                <a:lnTo>
                  <a:pt x="7883515" y="9274723"/>
                </a:lnTo>
                <a:lnTo>
                  <a:pt x="0" y="9274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96950">
            <a:off x="14593686" y="-1310602"/>
            <a:ext cx="5766809" cy="10367297"/>
          </a:xfrm>
          <a:custGeom>
            <a:avLst/>
            <a:gdLst/>
            <a:ahLst/>
            <a:cxnLst/>
            <a:rect r="r" b="b" t="t" l="l"/>
            <a:pathLst>
              <a:path h="10367297" w="5766809">
                <a:moveTo>
                  <a:pt x="0" y="0"/>
                </a:moveTo>
                <a:lnTo>
                  <a:pt x="5766809" y="0"/>
                </a:lnTo>
                <a:lnTo>
                  <a:pt x="5766809" y="10367297"/>
                </a:lnTo>
                <a:lnTo>
                  <a:pt x="0" y="10367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126995" y="1909176"/>
            <a:ext cx="11011148" cy="7790387"/>
          </a:xfrm>
          <a:custGeom>
            <a:avLst/>
            <a:gdLst/>
            <a:ahLst/>
            <a:cxnLst/>
            <a:rect r="r" b="b" t="t" l="l"/>
            <a:pathLst>
              <a:path h="7790387" w="11011148">
                <a:moveTo>
                  <a:pt x="0" y="0"/>
                </a:moveTo>
                <a:lnTo>
                  <a:pt x="11011147" y="0"/>
                </a:lnTo>
                <a:lnTo>
                  <a:pt x="11011147" y="7790387"/>
                </a:lnTo>
                <a:lnTo>
                  <a:pt x="0" y="7790387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80645" y="962025"/>
            <a:ext cx="12129989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Análisis Comparativo de Curvas ROC de los 3 modelos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-3102872">
            <a:off x="15157837" y="-1096036"/>
            <a:ext cx="4480612" cy="5271308"/>
          </a:xfrm>
          <a:custGeom>
            <a:avLst/>
            <a:gdLst/>
            <a:ahLst/>
            <a:cxnLst/>
            <a:rect r="r" b="b" t="t" l="l"/>
            <a:pathLst>
              <a:path h="5271308" w="4480612">
                <a:moveTo>
                  <a:pt x="0" y="0"/>
                </a:moveTo>
                <a:lnTo>
                  <a:pt x="4480612" y="0"/>
                </a:lnTo>
                <a:lnTo>
                  <a:pt x="4480612" y="5271308"/>
                </a:lnTo>
                <a:lnTo>
                  <a:pt x="0" y="527130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59048">
            <a:off x="-2207951" y="5176060"/>
            <a:ext cx="5007077" cy="5890679"/>
          </a:xfrm>
          <a:custGeom>
            <a:avLst/>
            <a:gdLst/>
            <a:ahLst/>
            <a:cxnLst/>
            <a:rect r="r" b="b" t="t" l="l"/>
            <a:pathLst>
              <a:path h="5890679" w="5007077">
                <a:moveTo>
                  <a:pt x="0" y="0"/>
                </a:moveTo>
                <a:lnTo>
                  <a:pt x="5007077" y="0"/>
                </a:lnTo>
                <a:lnTo>
                  <a:pt x="5007077" y="5890679"/>
                </a:lnTo>
                <a:lnTo>
                  <a:pt x="0" y="589067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560249" y="1539618"/>
            <a:ext cx="9270436" cy="3603882"/>
          </a:xfrm>
          <a:custGeom>
            <a:avLst/>
            <a:gdLst/>
            <a:ahLst/>
            <a:cxnLst/>
            <a:rect r="r" b="b" t="t" l="l"/>
            <a:pathLst>
              <a:path h="3603882" w="9270436">
                <a:moveTo>
                  <a:pt x="0" y="0"/>
                </a:moveTo>
                <a:lnTo>
                  <a:pt x="9270436" y="0"/>
                </a:lnTo>
                <a:lnTo>
                  <a:pt x="9270436" y="3603882"/>
                </a:lnTo>
                <a:lnTo>
                  <a:pt x="0" y="3603882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295441" y="5381625"/>
            <a:ext cx="9628970" cy="4730232"/>
          </a:xfrm>
          <a:custGeom>
            <a:avLst/>
            <a:gdLst/>
            <a:ahLst/>
            <a:cxnLst/>
            <a:rect r="r" b="b" t="t" l="l"/>
            <a:pathLst>
              <a:path h="4730232" w="9628970">
                <a:moveTo>
                  <a:pt x="0" y="0"/>
                </a:moveTo>
                <a:lnTo>
                  <a:pt x="9628970" y="0"/>
                </a:lnTo>
                <a:lnTo>
                  <a:pt x="9628970" y="4730232"/>
                </a:lnTo>
                <a:lnTo>
                  <a:pt x="0" y="4730232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560249" y="688083"/>
            <a:ext cx="10462891" cy="6134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040"/>
              </a:lnSpc>
              <a:spcBef>
                <a:spcPct val="0"/>
              </a:spcBef>
            </a:pPr>
            <a:r>
              <a:rPr lang="en-US" b="true" sz="3600">
                <a:solidFill>
                  <a:srgbClr val="000000"/>
                </a:solidFill>
                <a:latin typeface="RoxboroughCF Heavy"/>
                <a:ea typeface="RoxboroughCF Heavy"/>
                <a:cs typeface="RoxboroughCF Heavy"/>
                <a:sym typeface="RoxboroughCF Heavy"/>
              </a:rPr>
              <a:t>Comparación del desempeño de los 3 modelos</a:t>
            </a:r>
          </a:p>
        </p:txBody>
      </p:sp>
    </p:spTree>
  </p:cSld>
  <p:clrMapOvr>
    <a:masterClrMapping/>
  </p:clrMapOvr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2699999">
            <a:off x="-3734525" y="-75386"/>
            <a:ext cx="7883515" cy="9274723"/>
          </a:xfrm>
          <a:custGeom>
            <a:avLst/>
            <a:gdLst/>
            <a:ahLst/>
            <a:cxnLst/>
            <a:rect r="r" b="b" t="t" l="l"/>
            <a:pathLst>
              <a:path h="9274723" w="7883515">
                <a:moveTo>
                  <a:pt x="0" y="0"/>
                </a:moveTo>
                <a:lnTo>
                  <a:pt x="7883515" y="0"/>
                </a:lnTo>
                <a:lnTo>
                  <a:pt x="7883515" y="9274723"/>
                </a:lnTo>
                <a:lnTo>
                  <a:pt x="0" y="92747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1096950">
            <a:off x="14593686" y="-1310602"/>
            <a:ext cx="5766809" cy="10367297"/>
          </a:xfrm>
          <a:custGeom>
            <a:avLst/>
            <a:gdLst/>
            <a:ahLst/>
            <a:cxnLst/>
            <a:rect r="r" b="b" t="t" l="l"/>
            <a:pathLst>
              <a:path h="10367297" w="5766809">
                <a:moveTo>
                  <a:pt x="0" y="0"/>
                </a:moveTo>
                <a:lnTo>
                  <a:pt x="5766809" y="0"/>
                </a:lnTo>
                <a:lnTo>
                  <a:pt x="5766809" y="10367297"/>
                </a:lnTo>
                <a:lnTo>
                  <a:pt x="0" y="1036729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7986564" y="5462930"/>
            <a:ext cx="10033488" cy="4289316"/>
          </a:xfrm>
          <a:custGeom>
            <a:avLst/>
            <a:gdLst/>
            <a:ahLst/>
            <a:cxnLst/>
            <a:rect r="r" b="b" t="t" l="l"/>
            <a:pathLst>
              <a:path h="4289316" w="10033488">
                <a:moveTo>
                  <a:pt x="0" y="0"/>
                </a:moveTo>
                <a:lnTo>
                  <a:pt x="10033489" y="0"/>
                </a:lnTo>
                <a:lnTo>
                  <a:pt x="10033489" y="4289316"/>
                </a:lnTo>
                <a:lnTo>
                  <a:pt x="0" y="428931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442560" y="2115993"/>
            <a:ext cx="11301259" cy="3023087"/>
          </a:xfrm>
          <a:custGeom>
            <a:avLst/>
            <a:gdLst/>
            <a:ahLst/>
            <a:cxnLst/>
            <a:rect r="r" b="b" t="t" l="l"/>
            <a:pathLst>
              <a:path h="3023087" w="11301259">
                <a:moveTo>
                  <a:pt x="0" y="0"/>
                </a:moveTo>
                <a:lnTo>
                  <a:pt x="11301259" y="0"/>
                </a:lnTo>
                <a:lnTo>
                  <a:pt x="11301259" y="3023087"/>
                </a:lnTo>
                <a:lnTo>
                  <a:pt x="0" y="3023087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2560" y="1028700"/>
            <a:ext cx="6735617" cy="762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50"/>
              </a:lnSpc>
            </a:pPr>
            <a:r>
              <a:rPr lang="en-US" sz="5000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Conclusiones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2560" y="6174182"/>
            <a:ext cx="5155320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23731"/>
                </a:solidFill>
                <a:latin typeface="Now"/>
                <a:ea typeface="Now"/>
                <a:cs typeface="Now"/>
                <a:sym typeface="Now"/>
              </a:rPr>
              <a:t>Se priorizo los resultados </a:t>
            </a:r>
          </a:p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23731"/>
                </a:solidFill>
                <a:latin typeface="Now"/>
                <a:ea typeface="Now"/>
                <a:cs typeface="Now"/>
                <a:sym typeface="Now"/>
              </a:rPr>
              <a:t>de Recall y AUC-ROC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442560" y="9404288"/>
            <a:ext cx="4288918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 spc="258" b="true">
                <a:solidFill>
                  <a:srgbClr val="403333"/>
                </a:solidFill>
                <a:latin typeface="Trebuchet MS Bold"/>
                <a:ea typeface="Trebuchet MS Bold"/>
                <a:cs typeface="Trebuchet MS Bold"/>
                <a:sym typeface="Trebuchet MS Bold"/>
              </a:rPr>
              <a:t>Objetivo 3 cumplido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207233" y="7784472"/>
            <a:ext cx="6066353" cy="10668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sz="3000">
                <a:solidFill>
                  <a:srgbClr val="423731"/>
                </a:solidFill>
                <a:latin typeface="Now"/>
                <a:ea typeface="Now"/>
                <a:cs typeface="Now"/>
                <a:sym typeface="Now"/>
              </a:rPr>
              <a:t>El mejor modelo con mejor performance es Random Forest</a:t>
            </a:r>
          </a:p>
        </p:txBody>
      </p:sp>
    </p:spTree>
  </p:cSld>
  <p:clrMapOvr>
    <a:masterClrMapping/>
  </p:clrMapOvr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8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7872103">
            <a:off x="2801138" y="6750025"/>
            <a:ext cx="7177012" cy="4660397"/>
          </a:xfrm>
          <a:custGeom>
            <a:avLst/>
            <a:gdLst/>
            <a:ahLst/>
            <a:cxnLst/>
            <a:rect r="r" b="b" t="t" l="l"/>
            <a:pathLst>
              <a:path h="4660397" w="7177012">
                <a:moveTo>
                  <a:pt x="0" y="0"/>
                </a:moveTo>
                <a:lnTo>
                  <a:pt x="7177012" y="0"/>
                </a:lnTo>
                <a:lnTo>
                  <a:pt x="7177012" y="4660397"/>
                </a:lnTo>
                <a:lnTo>
                  <a:pt x="0" y="466039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-3102872">
            <a:off x="3473015" y="-2494195"/>
            <a:ext cx="8045061" cy="9464778"/>
          </a:xfrm>
          <a:custGeom>
            <a:avLst/>
            <a:gdLst/>
            <a:ahLst/>
            <a:cxnLst/>
            <a:rect r="r" b="b" t="t" l="l"/>
            <a:pathLst>
              <a:path h="9464778" w="8045061">
                <a:moveTo>
                  <a:pt x="0" y="0"/>
                </a:moveTo>
                <a:lnTo>
                  <a:pt x="8045061" y="0"/>
                </a:lnTo>
                <a:lnTo>
                  <a:pt x="8045061" y="9464778"/>
                </a:lnTo>
                <a:lnTo>
                  <a:pt x="0" y="946477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8588629" y="-403906"/>
            <a:ext cx="10431610" cy="11557063"/>
            <a:chOff x="0" y="0"/>
            <a:chExt cx="2747420" cy="3043836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747420" cy="3043836"/>
            </a:xfrm>
            <a:custGeom>
              <a:avLst/>
              <a:gdLst/>
              <a:ahLst/>
              <a:cxnLst/>
              <a:rect r="r" b="b" t="t" l="l"/>
              <a:pathLst>
                <a:path h="3043836" w="2747420">
                  <a:moveTo>
                    <a:pt x="0" y="0"/>
                  </a:moveTo>
                  <a:lnTo>
                    <a:pt x="2747420" y="0"/>
                  </a:lnTo>
                  <a:lnTo>
                    <a:pt x="2747420" y="3043836"/>
                  </a:lnTo>
                  <a:lnTo>
                    <a:pt x="0" y="304383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2747420" cy="30724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096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0158764" y="3368482"/>
            <a:ext cx="7291340" cy="1362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885"/>
              </a:lnSpc>
            </a:pPr>
            <a:r>
              <a:rPr lang="en-US" sz="8571" spc="737" b="true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Gracias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158764" y="5196348"/>
            <a:ext cx="6045336" cy="4152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59"/>
              </a:lnSpc>
            </a:pPr>
            <a:r>
              <a:rPr lang="en-US" b="true" sz="2400" spc="998">
                <a:solidFill>
                  <a:srgbClr val="403333"/>
                </a:solidFill>
                <a:latin typeface="RoxboroughCF Bold"/>
                <a:ea typeface="RoxboroughCF Bold"/>
                <a:cs typeface="RoxboroughCF Bold"/>
                <a:sym typeface="RoxboroughCF Bold"/>
              </a:rPr>
              <a:t>BELEN MEJIA MEDINA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2903457">
            <a:off x="-1008589" y="4479193"/>
            <a:ext cx="3569696" cy="6417431"/>
          </a:xfrm>
          <a:custGeom>
            <a:avLst/>
            <a:gdLst/>
            <a:ahLst/>
            <a:cxnLst/>
            <a:rect r="r" b="b" t="t" l="l"/>
            <a:pathLst>
              <a:path h="6417431" w="3569696">
                <a:moveTo>
                  <a:pt x="0" y="0"/>
                </a:moveTo>
                <a:lnTo>
                  <a:pt x="3569696" y="0"/>
                </a:lnTo>
                <a:lnTo>
                  <a:pt x="3569696" y="6417431"/>
                </a:lnTo>
                <a:lnTo>
                  <a:pt x="0" y="6417431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DAHMZnV1zlw</dc:identifier>
  <dcterms:modified xsi:type="dcterms:W3CDTF">2011-08-01T06:04:30Z</dcterms:modified>
  <cp:revision>1</cp:revision>
  <dc:title>Elegante y versátil presentación centro estético flores tonos crema pastel</dc:title>
</cp:coreProperties>
</file>